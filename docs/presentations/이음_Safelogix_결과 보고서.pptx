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Noto Sans KR" panose="020B0200000000000000" pitchFamily="50" charset="-127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08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ceecd98b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ceecd98b8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ceecd98b8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ceecd98b8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ceecd98b8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eceecd98b8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71500" y="2886075"/>
            <a:ext cx="1104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현장 안전 및 물류 행정 통합 관리 SaaS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528625" y="5481625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응용소프트웨어공학과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28625" y="5862625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담당교수 : 김삼문 교수님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28625" y="6243625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20233082 홍효정 | 20213039 박정열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414970" y="1404312"/>
            <a:ext cx="560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 err="1">
                <a:solidFill>
                  <a:srgbClr val="0EA5E9"/>
                </a:solidFill>
                <a:latin typeface="Noto Sans KR"/>
                <a:ea typeface="Noto Sans KR"/>
                <a:cs typeface="Noto Sans KR"/>
                <a:sym typeface="Noto Sans KR"/>
              </a:rPr>
              <a:t>중대재해처벌법</a:t>
            </a:r>
            <a:endParaRPr dirty="0"/>
          </a:p>
        </p:txBody>
      </p:sp>
      <p:sp>
        <p:nvSpPr>
          <p:cNvPr id="94" name="Google Shape;94;p14"/>
          <p:cNvSpPr txBox="1"/>
          <p:nvPr/>
        </p:nvSpPr>
        <p:spPr>
          <a:xfrm>
            <a:off x="376869" y="1888486"/>
            <a:ext cx="5719131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lang="en-US" sz="1500" b="1" dirty="0" err="1">
                <a:solidFill>
                  <a:schemeClr val="dk1"/>
                </a:solidFill>
              </a:rPr>
              <a:t>유해·위험요인</a:t>
            </a:r>
            <a:r>
              <a:rPr lang="en-US" sz="1500" b="1" dirty="0">
                <a:solidFill>
                  <a:schemeClr val="dk1"/>
                </a:solidFill>
              </a:rPr>
              <a:t> </a:t>
            </a:r>
            <a:r>
              <a:rPr lang="en-US" sz="1500" b="1" dirty="0" err="1">
                <a:solidFill>
                  <a:schemeClr val="dk1"/>
                </a:solidFill>
              </a:rPr>
              <a:t>확인</a:t>
            </a:r>
            <a:r>
              <a:rPr lang="en-US" sz="1500" b="1" dirty="0">
                <a:solidFill>
                  <a:schemeClr val="dk1"/>
                </a:solidFill>
              </a:rPr>
              <a:t> 및 </a:t>
            </a:r>
            <a:r>
              <a:rPr lang="en-US" sz="1500" b="1" dirty="0" err="1">
                <a:solidFill>
                  <a:schemeClr val="dk1"/>
                </a:solidFill>
              </a:rPr>
              <a:t>개선</a:t>
            </a:r>
            <a:r>
              <a:rPr lang="en-US" sz="1500" b="1" dirty="0">
                <a:solidFill>
                  <a:schemeClr val="dk1"/>
                </a:solidFill>
              </a:rPr>
              <a:t> </a:t>
            </a:r>
            <a:r>
              <a:rPr lang="en-US" sz="1500" b="1" dirty="0" err="1">
                <a:solidFill>
                  <a:schemeClr val="dk1"/>
                </a:solidFill>
              </a:rPr>
              <a:t>절차</a:t>
            </a:r>
            <a:r>
              <a:rPr lang="en-US" sz="1500" b="1" dirty="0">
                <a:solidFill>
                  <a:schemeClr val="dk1"/>
                </a:solidFill>
              </a:rPr>
              <a:t> </a:t>
            </a:r>
            <a:r>
              <a:rPr lang="en-US" sz="1500" b="1" dirty="0" err="1">
                <a:solidFill>
                  <a:schemeClr val="dk1"/>
                </a:solidFill>
              </a:rPr>
              <a:t>마련</a:t>
            </a:r>
            <a:r>
              <a:rPr lang="en-US" sz="1500" b="1" dirty="0">
                <a:solidFill>
                  <a:schemeClr val="dk1"/>
                </a:solidFill>
              </a:rPr>
              <a:t> (</a:t>
            </a:r>
            <a:r>
              <a:rPr lang="en-US" sz="1500" b="1" dirty="0" err="1">
                <a:solidFill>
                  <a:schemeClr val="dk1"/>
                </a:solidFill>
              </a:rPr>
              <a:t>시행령</a:t>
            </a:r>
            <a:r>
              <a:rPr lang="en-US" sz="1500" b="1" dirty="0">
                <a:solidFill>
                  <a:schemeClr val="dk1"/>
                </a:solidFill>
              </a:rPr>
              <a:t> 제4조 제3호)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lang="en-US" sz="1500" b="1" dirty="0" err="1">
                <a:solidFill>
                  <a:schemeClr val="dk1"/>
                </a:solidFill>
              </a:rPr>
              <a:t>중대재해</a:t>
            </a:r>
            <a:r>
              <a:rPr lang="en-US" sz="1500" b="1" dirty="0">
                <a:solidFill>
                  <a:schemeClr val="dk1"/>
                </a:solidFill>
              </a:rPr>
              <a:t> </a:t>
            </a:r>
            <a:r>
              <a:rPr lang="en-US" sz="1500" b="1" dirty="0" err="1">
                <a:solidFill>
                  <a:schemeClr val="dk1"/>
                </a:solidFill>
              </a:rPr>
              <a:t>발생</a:t>
            </a:r>
            <a:r>
              <a:rPr lang="en-US" sz="1500" b="1" dirty="0">
                <a:solidFill>
                  <a:schemeClr val="dk1"/>
                </a:solidFill>
              </a:rPr>
              <a:t> 시 </a:t>
            </a:r>
            <a:r>
              <a:rPr lang="en-US" sz="1500" b="1" dirty="0" err="1">
                <a:solidFill>
                  <a:schemeClr val="dk1"/>
                </a:solidFill>
              </a:rPr>
              <a:t>대비</a:t>
            </a:r>
            <a:r>
              <a:rPr lang="en-US" sz="1500" b="1" dirty="0">
                <a:solidFill>
                  <a:schemeClr val="dk1"/>
                </a:solidFill>
              </a:rPr>
              <a:t> </a:t>
            </a:r>
            <a:r>
              <a:rPr lang="en-US" sz="1500" b="1" dirty="0" err="1">
                <a:solidFill>
                  <a:schemeClr val="dk1"/>
                </a:solidFill>
              </a:rPr>
              <a:t>매뉴얼</a:t>
            </a:r>
            <a:r>
              <a:rPr lang="en-US" sz="1500" b="1" dirty="0">
                <a:solidFill>
                  <a:schemeClr val="dk1"/>
                </a:solidFill>
              </a:rPr>
              <a:t> </a:t>
            </a:r>
            <a:r>
              <a:rPr lang="en-US" sz="1500" b="1" dirty="0" err="1">
                <a:solidFill>
                  <a:schemeClr val="dk1"/>
                </a:solidFill>
              </a:rPr>
              <a:t>마련</a:t>
            </a:r>
            <a:r>
              <a:rPr lang="en-US" sz="1500" b="1" dirty="0">
                <a:solidFill>
                  <a:schemeClr val="dk1"/>
                </a:solidFill>
              </a:rPr>
              <a:t> 및 </a:t>
            </a:r>
            <a:r>
              <a:rPr lang="en-US" sz="1500" b="1" dirty="0" err="1">
                <a:solidFill>
                  <a:schemeClr val="dk1"/>
                </a:solidFill>
              </a:rPr>
              <a:t>조치</a:t>
            </a:r>
            <a:r>
              <a:rPr lang="en-US" sz="1500" b="1" dirty="0">
                <a:solidFill>
                  <a:schemeClr val="dk1"/>
                </a:solidFill>
              </a:rPr>
              <a:t> (</a:t>
            </a:r>
            <a:r>
              <a:rPr lang="en-US" sz="1500" b="1" dirty="0" err="1">
                <a:solidFill>
                  <a:schemeClr val="dk1"/>
                </a:solidFill>
              </a:rPr>
              <a:t>시행령</a:t>
            </a:r>
            <a:r>
              <a:rPr lang="en-US" sz="1500" b="1" dirty="0">
                <a:solidFill>
                  <a:schemeClr val="dk1"/>
                </a:solidFill>
              </a:rPr>
              <a:t> 제4조 제8호)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lang="en-US" sz="1500" b="1" dirty="0" err="1">
                <a:solidFill>
                  <a:schemeClr val="dk1"/>
                </a:solidFill>
              </a:rPr>
              <a:t>안전보건</a:t>
            </a:r>
            <a:r>
              <a:rPr lang="en-US" sz="1500" b="1" dirty="0">
                <a:solidFill>
                  <a:schemeClr val="dk1"/>
                </a:solidFill>
              </a:rPr>
              <a:t> </a:t>
            </a:r>
            <a:r>
              <a:rPr lang="en-US" sz="1500" b="1" dirty="0" err="1">
                <a:solidFill>
                  <a:schemeClr val="dk1"/>
                </a:solidFill>
              </a:rPr>
              <a:t>이행</a:t>
            </a:r>
            <a:r>
              <a:rPr lang="en-US" sz="1500" b="1" dirty="0">
                <a:solidFill>
                  <a:schemeClr val="dk1"/>
                </a:solidFill>
              </a:rPr>
              <a:t> </a:t>
            </a:r>
            <a:r>
              <a:rPr lang="en-US" sz="1500" b="1" dirty="0" err="1">
                <a:solidFill>
                  <a:schemeClr val="dk1"/>
                </a:solidFill>
              </a:rPr>
              <a:t>사항의</a:t>
            </a:r>
            <a:r>
              <a:rPr lang="en-US" sz="1500" b="1" dirty="0">
                <a:solidFill>
                  <a:schemeClr val="dk1"/>
                </a:solidFill>
              </a:rPr>
              <a:t> </a:t>
            </a:r>
            <a:r>
              <a:rPr lang="en-US" sz="1500" b="1" dirty="0" err="1">
                <a:solidFill>
                  <a:schemeClr val="dk1"/>
                </a:solidFill>
              </a:rPr>
              <a:t>기록</a:t>
            </a:r>
            <a:r>
              <a:rPr lang="en-US" sz="1500" b="1" dirty="0">
                <a:solidFill>
                  <a:schemeClr val="dk1"/>
                </a:solidFill>
              </a:rPr>
              <a:t> </a:t>
            </a:r>
            <a:r>
              <a:rPr lang="en-US" sz="1500" b="1" dirty="0" err="1">
                <a:solidFill>
                  <a:schemeClr val="dk1"/>
                </a:solidFill>
              </a:rPr>
              <a:t>보존</a:t>
            </a:r>
            <a:r>
              <a:rPr lang="en-US" sz="1500" b="1" dirty="0">
                <a:solidFill>
                  <a:schemeClr val="dk1"/>
                </a:solidFill>
              </a:rPr>
              <a:t> (</a:t>
            </a:r>
            <a:r>
              <a:rPr lang="en-US" sz="1500" b="1" dirty="0" err="1">
                <a:solidFill>
                  <a:schemeClr val="dk1"/>
                </a:solidFill>
              </a:rPr>
              <a:t>시행령</a:t>
            </a:r>
            <a:r>
              <a:rPr lang="en-US" sz="1500" b="1" dirty="0">
                <a:solidFill>
                  <a:schemeClr val="dk1"/>
                </a:solidFill>
              </a:rPr>
              <a:t> 제4조 </a:t>
            </a:r>
            <a:r>
              <a:rPr lang="en-US" sz="1500" b="1" dirty="0" err="1">
                <a:solidFill>
                  <a:schemeClr val="dk1"/>
                </a:solidFill>
              </a:rPr>
              <a:t>전체</a:t>
            </a:r>
            <a:r>
              <a:rPr lang="en-US" sz="1500" b="1" dirty="0">
                <a:solidFill>
                  <a:schemeClr val="dk1"/>
                </a:solidFill>
              </a:rPr>
              <a:t>)</a:t>
            </a:r>
            <a:endParaRPr sz="15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lang="en-US" sz="1500" b="1" dirty="0" err="1">
                <a:solidFill>
                  <a:schemeClr val="dk1"/>
                </a:solidFill>
              </a:rPr>
              <a:t>상시</a:t>
            </a:r>
            <a:r>
              <a:rPr lang="en-US" sz="1500" b="1" dirty="0">
                <a:solidFill>
                  <a:schemeClr val="dk1"/>
                </a:solidFill>
              </a:rPr>
              <a:t> </a:t>
            </a:r>
            <a:r>
              <a:rPr lang="en-US" sz="1500" b="1" dirty="0" err="1">
                <a:solidFill>
                  <a:schemeClr val="dk1"/>
                </a:solidFill>
              </a:rPr>
              <a:t>근로자</a:t>
            </a:r>
            <a:r>
              <a:rPr lang="en-US" sz="1500" b="1" dirty="0">
                <a:solidFill>
                  <a:schemeClr val="dk1"/>
                </a:solidFill>
              </a:rPr>
              <a:t> 5인 </a:t>
            </a:r>
            <a:r>
              <a:rPr lang="en-US" sz="1500" b="1" dirty="0" err="1">
                <a:solidFill>
                  <a:schemeClr val="dk1"/>
                </a:solidFill>
              </a:rPr>
              <a:t>이상의</a:t>
            </a:r>
            <a:r>
              <a:rPr lang="en-US" sz="1500" b="1" dirty="0">
                <a:solidFill>
                  <a:schemeClr val="dk1"/>
                </a:solidFill>
              </a:rPr>
              <a:t> </a:t>
            </a:r>
            <a:r>
              <a:rPr lang="en-US" sz="1500" b="1" dirty="0" err="1">
                <a:solidFill>
                  <a:schemeClr val="dk1"/>
                </a:solidFill>
              </a:rPr>
              <a:t>모든</a:t>
            </a:r>
            <a:r>
              <a:rPr lang="en-US" sz="1500" b="1" dirty="0">
                <a:solidFill>
                  <a:schemeClr val="dk1"/>
                </a:solidFill>
              </a:rPr>
              <a:t> </a:t>
            </a:r>
            <a:r>
              <a:rPr lang="en-US" sz="1500" b="1" dirty="0" err="1">
                <a:solidFill>
                  <a:schemeClr val="dk1"/>
                </a:solidFill>
              </a:rPr>
              <a:t>사업장으로</a:t>
            </a:r>
            <a:r>
              <a:rPr lang="en-US" sz="1500" b="1" dirty="0">
                <a:solidFill>
                  <a:schemeClr val="dk1"/>
                </a:solidFill>
              </a:rPr>
              <a:t> </a:t>
            </a:r>
            <a:r>
              <a:rPr lang="en-US" sz="1500" b="1" dirty="0" err="1">
                <a:solidFill>
                  <a:schemeClr val="dk1"/>
                </a:solidFill>
              </a:rPr>
              <a:t>확대</a:t>
            </a:r>
            <a:r>
              <a:rPr lang="en-US" sz="1500" b="1" dirty="0">
                <a:solidFill>
                  <a:schemeClr val="dk1"/>
                </a:solidFill>
              </a:rPr>
              <a:t> </a:t>
            </a:r>
            <a:r>
              <a:rPr lang="en-US" sz="1500" b="1" dirty="0" err="1">
                <a:solidFill>
                  <a:schemeClr val="dk1"/>
                </a:solidFill>
              </a:rPr>
              <a:t>적용됨</a:t>
            </a:r>
            <a:endParaRPr sz="1500" b="1" dirty="0">
              <a:solidFill>
                <a:schemeClr val="dk1"/>
              </a:solidFill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376869" y="3903234"/>
            <a:ext cx="560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 err="1">
                <a:solidFill>
                  <a:srgbClr val="0EA5E9"/>
                </a:solidFill>
                <a:latin typeface="Noto Sans KR"/>
                <a:ea typeface="Noto Sans KR"/>
                <a:cs typeface="Noto Sans KR"/>
                <a:sym typeface="Noto Sans KR"/>
              </a:rPr>
              <a:t>영세</a:t>
            </a:r>
            <a:r>
              <a:rPr lang="en-US" sz="2100" b="1" dirty="0">
                <a:solidFill>
                  <a:srgbClr val="0EA5E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dirty="0" err="1">
                <a:solidFill>
                  <a:srgbClr val="0EA5E9"/>
                </a:solidFill>
                <a:latin typeface="Noto Sans KR"/>
                <a:ea typeface="Noto Sans KR"/>
                <a:cs typeface="Noto Sans KR"/>
                <a:sym typeface="Noto Sans KR"/>
              </a:rPr>
              <a:t>소기업은</a:t>
            </a:r>
            <a:r>
              <a:rPr lang="en-US" sz="2100" b="1" dirty="0">
                <a:solidFill>
                  <a:srgbClr val="0EA5E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dirty="0" err="1">
                <a:solidFill>
                  <a:srgbClr val="0EA5E9"/>
                </a:solidFill>
                <a:latin typeface="Noto Sans KR"/>
                <a:ea typeface="Noto Sans KR"/>
                <a:cs typeface="Noto Sans KR"/>
                <a:sym typeface="Noto Sans KR"/>
              </a:rPr>
              <a:t>대응하기</a:t>
            </a:r>
            <a:r>
              <a:rPr lang="en-US" sz="2100" b="1" dirty="0">
                <a:solidFill>
                  <a:srgbClr val="0EA5E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dirty="0" err="1">
                <a:solidFill>
                  <a:srgbClr val="0EA5E9"/>
                </a:solidFill>
                <a:latin typeface="Noto Sans KR"/>
                <a:ea typeface="Noto Sans KR"/>
                <a:cs typeface="Noto Sans KR"/>
                <a:sym typeface="Noto Sans KR"/>
              </a:rPr>
              <a:t>힘든</a:t>
            </a:r>
            <a:r>
              <a:rPr lang="en-US" sz="2100" b="1" dirty="0">
                <a:solidFill>
                  <a:srgbClr val="0EA5E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dirty="0" err="1">
                <a:solidFill>
                  <a:srgbClr val="0EA5E9"/>
                </a:solidFill>
                <a:latin typeface="Noto Sans KR"/>
                <a:ea typeface="Noto Sans KR"/>
                <a:cs typeface="Noto Sans KR"/>
                <a:sym typeface="Noto Sans KR"/>
              </a:rPr>
              <a:t>상황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376870" y="4433772"/>
            <a:ext cx="53340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lang="en-US" sz="1500" b="1">
                <a:solidFill>
                  <a:schemeClr val="dk1"/>
                </a:solidFill>
              </a:rPr>
              <a:t>전문 인력 및 조직 부재</a:t>
            </a:r>
            <a:br>
              <a:rPr lang="en-US" sz="1500" b="1">
                <a:solidFill>
                  <a:schemeClr val="dk1"/>
                </a:solidFill>
              </a:rPr>
            </a:br>
            <a:r>
              <a:rPr lang="en-US" sz="15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lang="en-US" sz="1500" b="1">
                <a:solidFill>
                  <a:schemeClr val="dk1"/>
                </a:solidFill>
              </a:rPr>
              <a:t>막대한 재정 부담</a:t>
            </a:r>
            <a:br>
              <a:rPr lang="en-US" sz="1500" b="1">
                <a:solidFill>
                  <a:schemeClr val="dk1"/>
                </a:solidFill>
              </a:rPr>
            </a:br>
            <a:r>
              <a:rPr lang="en-US" sz="15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lang="en-US" sz="1500" b="1">
                <a:solidFill>
                  <a:schemeClr val="dk1"/>
                </a:solidFill>
              </a:rPr>
              <a:t>복잡한 법 규정 및 서류작업</a:t>
            </a:r>
            <a:br>
              <a:rPr lang="en-US" sz="1500" b="1">
                <a:solidFill>
                  <a:schemeClr val="dk1"/>
                </a:solidFill>
              </a:rPr>
            </a:br>
            <a:r>
              <a:rPr lang="en-US" sz="15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lang="en-US" sz="1500" b="1">
                <a:solidFill>
                  <a:schemeClr val="dk1"/>
                </a:solidFill>
              </a:rPr>
              <a:t>사법 리스크 및 처벌 공포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369A1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입안 배경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6350" y="1355712"/>
            <a:ext cx="6006700" cy="414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543625"/>
            <a:ext cx="8622351" cy="33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4350" y="0"/>
            <a:ext cx="6967651" cy="3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0369A1"/>
                </a:solidFill>
                <a:latin typeface="Noto Sans KR"/>
                <a:ea typeface="Noto Sans KR"/>
                <a:cs typeface="Noto Sans KR"/>
                <a:sym typeface="Noto Sans KR"/>
              </a:rPr>
              <a:t>팀원 역할 및 개발 일정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0369A1"/>
                </a:solidFill>
                <a:latin typeface="Noto Sans KR"/>
                <a:ea typeface="Noto Sans KR"/>
                <a:cs typeface="Noto Sans KR"/>
                <a:sym typeface="Noto Sans KR"/>
              </a:rPr>
              <a:t>어떤 프로그램인가?</a:t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6775" y="1285550"/>
            <a:ext cx="10218450" cy="557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157240" cy="574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57235" y="0"/>
            <a:ext cx="4034765" cy="5741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1" cy="6818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1" cy="597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04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25" y="152400"/>
            <a:ext cx="11741150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25" y="152400"/>
            <a:ext cx="11741150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4" title="02_메인화면 발급코드 로그인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754123" cy="4924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6875" y="847275"/>
            <a:ext cx="6455125" cy="601072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4"/>
          <p:cNvSpPr txBox="1"/>
          <p:nvPr/>
        </p:nvSpPr>
        <p:spPr>
          <a:xfrm>
            <a:off x="136175" y="5069300"/>
            <a:ext cx="560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0EA5E9"/>
                </a:solidFill>
                <a:latin typeface="Noto Sans KR"/>
                <a:ea typeface="Noto Sans KR"/>
                <a:cs typeface="Noto Sans KR"/>
                <a:sym typeface="Noto Sans KR"/>
              </a:rPr>
              <a:t>간단한 토큰으로 접속 및 데이터 저장</a:t>
            </a:r>
            <a:endParaRPr/>
          </a:p>
        </p:txBody>
      </p:sp>
      <p:sp>
        <p:nvSpPr>
          <p:cNvPr id="159" name="Google Shape;159;p24"/>
          <p:cNvSpPr txBox="1"/>
          <p:nvPr/>
        </p:nvSpPr>
        <p:spPr>
          <a:xfrm>
            <a:off x="136175" y="5692450"/>
            <a:ext cx="533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lang="en-US" sz="1500" b="1">
                <a:solidFill>
                  <a:schemeClr val="dk1"/>
                </a:solidFill>
              </a:rPr>
              <a:t>각 회사마다 사진, 데이터, 카메라 연결 정보가 토큰으로 보안</a:t>
            </a:r>
            <a:br>
              <a:rPr lang="en-US" sz="1500" b="1">
                <a:solidFill>
                  <a:schemeClr val="dk1"/>
                </a:solidFill>
              </a:rPr>
            </a:br>
            <a:r>
              <a:rPr lang="en-US" sz="15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lang="en-US" sz="1500" b="1">
                <a:solidFill>
                  <a:schemeClr val="dk1"/>
                </a:solidFill>
              </a:rPr>
              <a:t>복잡한 아이디 비밀번호 기업 필요 없이 토큰 하나로 사용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/>
        </p:nvSpPr>
        <p:spPr>
          <a:xfrm>
            <a:off x="894241" y="3882330"/>
            <a:ext cx="28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현장 근로자의 알람 확인 여부</a:t>
            </a:r>
            <a:endParaRPr/>
          </a:p>
        </p:txBody>
      </p:sp>
      <p:sp>
        <p:nvSpPr>
          <p:cNvPr id="165" name="Google Shape;165;p25"/>
          <p:cNvSpPr txBox="1"/>
          <p:nvPr/>
        </p:nvSpPr>
        <p:spPr>
          <a:xfrm>
            <a:off x="767638" y="4330000"/>
            <a:ext cx="3219300" cy="12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현장</a:t>
            </a:r>
            <a:r>
              <a:rPr lang="en-US" sz="1350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근로자가</a:t>
            </a:r>
            <a:r>
              <a:rPr lang="en-US" sz="1350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카톡</a:t>
            </a:r>
            <a:r>
              <a:rPr lang="en-US" sz="1350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알림을</a:t>
            </a:r>
            <a:r>
              <a:rPr lang="en-US" sz="1350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일일이</a:t>
            </a:r>
            <a:r>
              <a:rPr lang="en-US" sz="1350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확인하는</a:t>
            </a:r>
            <a:r>
              <a:rPr lang="en-US" sz="1350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것이</a:t>
            </a:r>
            <a:r>
              <a:rPr lang="en-US" sz="1350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현실적으로</a:t>
            </a:r>
            <a:r>
              <a:rPr lang="en-US" sz="1350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어려움</a:t>
            </a:r>
            <a:endParaRPr sz="1350" dirty="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-&gt;&gt; </a:t>
            </a:r>
            <a:r>
              <a:rPr lang="en-US" sz="1350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현장</a:t>
            </a:r>
            <a:r>
              <a:rPr lang="en-US" sz="1350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근로자가</a:t>
            </a:r>
            <a:r>
              <a:rPr lang="en-US" sz="1350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아닌</a:t>
            </a:r>
            <a:r>
              <a:rPr lang="en-US" sz="1350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감독자에게</a:t>
            </a:r>
            <a:r>
              <a:rPr lang="en-US" sz="1350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알림</a:t>
            </a:r>
            <a:r>
              <a:rPr lang="en-US" sz="1350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수신으로</a:t>
            </a:r>
            <a:r>
              <a:rPr lang="en-US" sz="1350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방침을</a:t>
            </a:r>
            <a:r>
              <a:rPr lang="en-US" sz="1350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변경하고자</a:t>
            </a:r>
            <a:r>
              <a:rPr lang="en-US" sz="1350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함</a:t>
            </a:r>
            <a:endParaRPr sz="1350" dirty="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6" name="Google Shape;166;p25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0369A1"/>
                </a:solidFill>
                <a:latin typeface="Noto Sans KR"/>
                <a:ea typeface="Noto Sans KR"/>
                <a:cs typeface="Noto Sans KR"/>
                <a:sym typeface="Noto Sans KR"/>
              </a:rPr>
              <a:t>변경: 알람 푸시 기능 전체 삭제 </a:t>
            </a:r>
            <a:endParaRPr/>
          </a:p>
        </p:txBody>
      </p:sp>
      <p:sp>
        <p:nvSpPr>
          <p:cNvPr id="167" name="Google Shape;167;p25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8100" y="2104870"/>
            <a:ext cx="1778386" cy="1558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2" y="1917275"/>
            <a:ext cx="7296151" cy="3982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" y="1529550"/>
            <a:ext cx="10804618" cy="532844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6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0369A1"/>
                </a:solidFill>
                <a:latin typeface="Noto Sans KR"/>
                <a:ea typeface="Noto Sans KR"/>
                <a:cs typeface="Noto Sans KR"/>
                <a:sym typeface="Noto Sans KR"/>
              </a:rPr>
              <a:t>변경: 물류 기능 개선</a:t>
            </a:r>
            <a:endParaRPr/>
          </a:p>
        </p:txBody>
      </p:sp>
      <p:sp>
        <p:nvSpPr>
          <p:cNvPr id="176" name="Google Shape;176;p26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1981200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186</Words>
  <Application>Microsoft Office PowerPoint</Application>
  <PresentationFormat>와이드스크린</PresentationFormat>
  <Paragraphs>19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Arial</vt:lpstr>
      <vt:lpstr>Noto Sans KR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효정 홍</cp:lastModifiedBy>
  <cp:revision>3</cp:revision>
  <dcterms:modified xsi:type="dcterms:W3CDTF">2026-06-07T06:01:45Z</dcterms:modified>
</cp:coreProperties>
</file>